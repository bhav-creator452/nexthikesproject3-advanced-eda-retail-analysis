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572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84124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22529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076688" y="4572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076688" y="84124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0076688" y="122529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0460736" y="4572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10460736" y="84124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460736" y="122529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44784" y="4572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44784" y="84124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44784" y="122529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28832" y="4572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28832" y="84124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28832" y="122529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-1097280" y="420624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0" y="-1280160"/>
            <a:ext cx="2926080" cy="29260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Transaction Data Analysis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Multivariate Analysis Using Python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184648" y="4160520"/>
            <a:ext cx="182880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4434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Bhavdeep Kaur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08960" y="4800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/ Project: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0160" y="5166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| Pandas | NumPy | Matplotlib | Seaborn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07492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 </a:t>
            </a:r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records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5000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</a:t>
            </a:r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variables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73405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product, pricing, payment,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return information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30098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Numerical, categorical &amp; date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0" y="1417320"/>
            <a:ext cx="507492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581912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205740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95681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distributions &amp; patterns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44768" y="242316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32257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relationships between variables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44768" y="278892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68833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interpret outliers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44768" y="315468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05409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correlation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44768" y="352044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41985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meaningful business insights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4343400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47088" y="434340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20240" y="434340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56816" y="4343400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18688" y="434340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434340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4343400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90288" y="434340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434340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4343400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61888" y="434340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35040" y="434340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4343400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33488" y="434340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06640" y="434340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43216" y="4343400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705088" y="434340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778240" y="434340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14816" y="4343400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076688" y="4343400"/>
            <a:ext cx="91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149840" y="434340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86416" y="4343400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52578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pipeline followed throughout this presentation, from raw data to business insight.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Exploration &amp; Data Quality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36192"/>
            <a:ext cx="233172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093976"/>
            <a:ext cx="233172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79192"/>
            <a:ext cx="233172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3236976"/>
            <a:ext cx="233172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77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" y="46177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Consistency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recorded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final price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463040"/>
            <a:ext cx="25450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74136" y="1591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374136" y="1591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74136" y="1920240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74136" y="2121408"/>
            <a:ext cx="228904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28360" y="1463040"/>
            <a:ext cx="25450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6376" y="1591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056376" y="1591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56376" y="1920240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56376" y="2121408"/>
            <a:ext cx="228904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10600" y="1463040"/>
            <a:ext cx="25450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38616" y="1591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738616" y="1591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38616" y="1920240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numerical values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738616" y="2121408"/>
            <a:ext cx="228904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2468880"/>
            <a:ext cx="25450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25968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33741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74136" y="2926080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74136" y="3127248"/>
            <a:ext cx="228904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28360" y="2468880"/>
            <a:ext cx="25450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56376" y="25968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05637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056376" y="2926080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whitespace issues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56376" y="3127248"/>
            <a:ext cx="228904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10600" y="2468880"/>
            <a:ext cx="25450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8616" y="25968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873861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738616" y="2926080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gaps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38616" y="3127248"/>
            <a:ext cx="228904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46120" y="3703320"/>
            <a:ext cx="7909560" cy="2057400"/>
          </a:xfrm>
          <a:prstGeom prst="roundRect">
            <a:avLst>
              <a:gd name="adj" fmla="val 3556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0" y="3886200"/>
            <a:ext cx="7269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visualization, the dataset was validated for null values, duplicates, invalid values and logical inconsistencies. It passed these checks without requiring row deletion or value correction."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3566160" y="5257800"/>
            <a:ext cx="7269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Quality Assessment, Section 1.7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Dataset for Analysis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663440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141732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Variables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97480" y="21122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95144"/>
            <a:ext cx="4663440" cy="713232"/>
          </a:xfrm>
          <a:prstGeom prst="roundRect">
            <a:avLst>
              <a:gd name="adj" fmla="val 8974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9514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 Preparation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2295144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→ datetime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97480" y="299008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4663440" cy="713232"/>
          </a:xfrm>
          <a:prstGeom prst="roundRect">
            <a:avLst>
              <a:gd name="adj" fmla="val 8974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7296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317296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97480" y="38679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4663440" cy="713232"/>
          </a:xfrm>
          <a:prstGeom prst="roundRect">
            <a:avLst>
              <a:gd name="adj" fmla="val 8974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5079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77440" y="4050792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Feature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97480" y="474573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928616"/>
            <a:ext cx="4663440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2861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377440" y="4928616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Variables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532120" y="14173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TIME &amp; GROUP FEATURES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7830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783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order_year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50608" y="178308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78308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order_month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87968" y="1783080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87968" y="1783080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order_month_name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32120" y="2276856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227685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order_quarter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07224" y="2276856"/>
            <a:ext cx="2340864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07224" y="2276856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order_day_of_week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2770632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277063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order_day_name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626096" y="2770632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6096" y="277063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order_year_month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957816" y="2770632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57816" y="277063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32120" y="3520440"/>
            <a:ext cx="61264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5806440" y="372160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Shape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806440" y="40233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rows  ×  26 columns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5806440" y="469087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18 variables expanded with 7 temporal features and 1 demographic grouping feature to support multivariate analysis.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Variables — Statistical Summary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034540"/>
                <a:gridCol w="2034540"/>
                <a:gridCol w="2034540"/>
                <a:gridCol w="20345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30,164.53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30,148.00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17,139.68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64,165.72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49,752.39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49,969.28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9834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 Skewness = 0.93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clear distributional outlier among all numerical variables.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Major Distributions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64849"/>
            <a:ext cx="4160520" cy="2859622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mgs/cell_0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92865"/>
            <a:ext cx="3904488" cy="23292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022135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Transaction Price — Histogram + KDE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564849"/>
            <a:ext cx="4160520" cy="2859622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imgs/cell_08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692865"/>
            <a:ext cx="3904488" cy="23292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4022135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Log10(Final Transaction Price) Distribution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961120" y="2357754"/>
            <a:ext cx="2788920" cy="1273811"/>
          </a:xfrm>
          <a:prstGeom prst="roundRect">
            <a:avLst>
              <a:gd name="adj" fmla="val 4307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4" name="Image 2" descr="/home/claude/imgs/cell_0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2485770"/>
            <a:ext cx="2532888" cy="7434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61120" y="322923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 — Boxplot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1520" y="4800600"/>
            <a:ext cx="10744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3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transactions are concentrated in lower-to-medium price ranges, while a smaller number of high-value transactions extend the upper tail — consistent with the right-skewed distribution and elevated kurtosis.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Customer, Product &amp; Temporal Distribution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779444"/>
            <a:ext cx="3703320" cy="243043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mgs/cell_1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907460"/>
            <a:ext cx="3447288" cy="190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8075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 by Segment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1702262"/>
            <a:ext cx="3703320" cy="2584796"/>
          </a:xfrm>
          <a:prstGeom prst="roundRect">
            <a:avLst>
              <a:gd name="adj" fmla="val 2123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imgs/cell_1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830278"/>
            <a:ext cx="3447288" cy="20544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388472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Distribution by Product Category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46720" y="1797358"/>
            <a:ext cx="3703320" cy="2394605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4" name="Image 2" descr="/home/claude/imgs/cell_1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925374"/>
            <a:ext cx="3447288" cy="186425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378962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Year-Month Transaction Heatmap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1520" y="4800600"/>
            <a:ext cx="10744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(New 33.5% / Regular 33.4% / Premium 33.2%) and product-category distributions are broadly balanced, while transaction activity remains stable across the three-year period with some recurring monthly variation.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Price is the Strongest Transaction-Value Driver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757738"/>
            <a:ext cx="4663440" cy="3159645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mgs/cell_1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885754"/>
            <a:ext cx="4407408" cy="2629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51504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Price vs Final Transaction Price — Scatter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57800" y="1757738"/>
            <a:ext cx="4663440" cy="3159645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imgs/cell_1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885754"/>
            <a:ext cx="4407408" cy="2629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451504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Regression Line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0058400" y="1371600"/>
            <a:ext cx="1691640" cy="393192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10104120" y="1600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058400" y="2606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0.73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0168128" y="333756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product prices are strongly associated with higher final transaction values. This is structurally expected, since product price is a direct component of final price.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Quantity and Transaction Value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246120" cy="2377440"/>
        </p:xfrm>
        <a:graphic>
          <a:graphicData uri="http://schemas.openxmlformats.org/drawingml/2006/table">
            <a:tbl>
              <a:tblPr/>
              <a:tblGrid>
                <a:gridCol w="1554480"/>
                <a:gridCol w="16916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Final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₹25,595.96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₹51,382.11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₹76,837.73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₹102,663.72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4114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₹102,663.72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94360" y="46177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price 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= 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039708"/>
            <a:ext cx="3794760" cy="2641423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2" name="Image 0" descr="/home/claude/imgs/cell_1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936" y="2167724"/>
            <a:ext cx="3538728" cy="21110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42787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 by Order Quantity — Boxplot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772400" y="2082204"/>
            <a:ext cx="3931920" cy="2556432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5" name="Image 1" descr="/home/claude/imgs/cell_1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16" y="2210220"/>
            <a:ext cx="3675888" cy="2026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42363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Price by Order Quantity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57200" y="54864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1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value increases consistently as order quantity increases.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and Return Behavior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CUSTOMER SEGMENT × FINAL PRICE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394960" cy="16002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Final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₹64,430.45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₹64,303.15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₹63,766.75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22678" y="1371600"/>
            <a:ext cx="5339724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0" name="Image 0" descr="/home/claude/imgs/cell_1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694" y="1499616"/>
            <a:ext cx="5083692" cy="30358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22678" y="4535424"/>
            <a:ext cx="53397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Product Category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34290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3566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</a:t>
            </a:r>
            <a:pPr indent="0" marL="0">
              <a:buNone/>
            </a:pPr>
            <a:r>
              <a:rPr lang="en-US" sz="12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highest average final price, but the difference across segments is small and distributions overlap substantially.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5800" y="43891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rates </a:t>
            </a:r>
            <a:pPr indent="0" marL="0">
              <a:buNone/>
            </a:pPr>
            <a:r>
              <a:rPr lang="en-US" sz="12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product category are tightly clustered, ranging from 14.47% to 15.05%.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categorical difference is practically large, even when the ranking differs.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Type, Delivery Time &amp; Returns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657600" cy="11430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5.51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88036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3657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and Standard shipping show almost identical average delivery times and very similar return rates.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45720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contrasts with the project's example expectation that Express would significantly reduce delivery time.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1966490"/>
            <a:ext cx="3657600" cy="2787861"/>
          </a:xfrm>
          <a:prstGeom prst="roundRect">
            <a:avLst>
              <a:gd name="adj" fmla="val 1968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3" name="Image 0" descr="/home/claude/imgs/cell_1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1416" y="2094506"/>
            <a:ext cx="3401568" cy="22575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435201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Days by Shipping Type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38160" y="2068685"/>
            <a:ext cx="3566160" cy="2583469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6" name="Image 1" descr="/home/claude/imgs/cell_1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76" y="2196701"/>
            <a:ext cx="3310128" cy="20531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4249819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Shipping Type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Duration vs Return Rate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24329" y="1371600"/>
            <a:ext cx="5957982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mgs/cell_1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345" y="1499616"/>
            <a:ext cx="5701950" cy="34015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4329" y="4901184"/>
            <a:ext cx="59579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Delivery Days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371600"/>
          <a:ext cx="4480560" cy="178308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return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 → 15.38%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return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 → 14.46%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269480" y="3337560"/>
            <a:ext cx="448056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0" y="35204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trend.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rates fluctuate across delivery durations but do not show a consistent increasing or decreasing pattern.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98080" y="45720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NextHikes brief anticipated increasing returns with longer delivery — the data here does not support that relationship.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Discounts Interact with Product Categories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69795"/>
            <a:ext cx="5532120" cy="3049730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mgs/cell_1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97811"/>
            <a:ext cx="5276088" cy="25193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117189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Final Price by Category &amp; Discount % — Heatmap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1421546"/>
            <a:ext cx="5532120" cy="3146228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imgs/cell_19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1549562"/>
            <a:ext cx="5276088" cy="26158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72200" y="416543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Final Price Across Discount Levels by Category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73752"/>
            <a:ext cx="260604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₹76,029.98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57200" y="5376672"/>
            <a:ext cx="26060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 at 0% discount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46120" y="48006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46120" y="4873752"/>
            <a:ext cx="260604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₹52,051.12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246120" y="5376672"/>
            <a:ext cx="26060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 at 30% discount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480060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6263640" y="480060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price generally declines as discount increases, with a broadly similar pattern across categories.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insight:  </a:t>
            </a:r>
            <a:pPr indent="0" marL="0">
              <a:buNone/>
            </a:pPr>
            <a:r>
              <a:rPr lang="en-US" sz="11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reveals the interaction of Category + Discount % + Final Price across all 100,000 transactions without overwhelming the audience.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× Age × Transaction Value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07176"/>
            <a:ext cx="5532120" cy="2837808"/>
          </a:xfrm>
          <a:prstGeom prst="roundRect">
            <a:avLst>
              <a:gd name="adj" fmla="val 1933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mgs/cell_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35192"/>
            <a:ext cx="5276088" cy="2307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94264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Final Price Across Customer Segments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1381061"/>
            <a:ext cx="5532120" cy="3090038"/>
          </a:xfrm>
          <a:prstGeom prst="roundRect">
            <a:avLst>
              <a:gd name="adj" fmla="val 177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1" descr="/home/claude/imgs/cell_2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1509077"/>
            <a:ext cx="5276088" cy="2559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72200" y="4068763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Price by Segment &amp; Age Group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4709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782312"/>
            <a:ext cx="260604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57200" y="5340096"/>
            <a:ext cx="260604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segment-wise age–price correlations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46120" y="470916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3474720" y="470916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does not substantially change the near-zero relationship between age and final transaction value.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863840" y="47091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DF1D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46720" y="47091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finding:  </a:t>
            </a:r>
            <a:pPr indent="0" marL="0">
              <a:buNone/>
            </a:pPr>
            <a:r>
              <a:rPr lang="en-US" sz="10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Premium average is in the 46–55 age group, at ₹65,432.07.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of Delivery Time, Shipping Type &amp; Returns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7099" y="1371600"/>
            <a:ext cx="4660843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mgs/cell_2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115" y="1499616"/>
            <a:ext cx="4404811" cy="40416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7099" y="5541264"/>
            <a:ext cx="46608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Delivery Days and Shipping Type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97880" y="137160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444752"/>
            <a:ext cx="5806440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16.21%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897880" y="2112264"/>
            <a:ext cx="5806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observed cell — Express + 7 days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97880" y="274320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816352"/>
            <a:ext cx="5806440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14.82%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897880" y="3483864"/>
            <a:ext cx="5806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+ 10 days, by comparison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97880" y="4114800"/>
            <a:ext cx="58064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4297680"/>
            <a:ext cx="5257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multivariate analysis matters: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shipping type and delivery duration still does not reveal a consistent increase in return probability — it lets us see individual combinations instead of relying only on overall averages.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Structure &amp; Outlier Investigation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943" y="1371600"/>
            <a:ext cx="4982314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/home/claude/imgs/cell_2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959" y="1499616"/>
            <a:ext cx="4726282" cy="34472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943" y="4946904"/>
            <a:ext cx="49823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Heatmap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0" y="1417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RELATIONSHIPS WITH FINAL PRICE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760720" cy="2011680"/>
        </p:xfrm>
        <a:graphic>
          <a:graphicData uri="http://schemas.openxmlformats.org/drawingml/2006/table">
            <a:tbl>
              <a:tblPr/>
              <a:tblGrid>
                <a:gridCol w="402336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 ↔ Final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↔ Final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↔ Final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↔ Final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Days ↔ Final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E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943600" y="3977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SHARE (FINAL PRICE ONLY)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43600" y="4279392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0" y="4352544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1.34%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943600" y="4965192"/>
            <a:ext cx="27889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915400" y="4279392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915400" y="4352544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0.50%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8915400" y="4965192"/>
            <a:ext cx="27889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outliers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43600" y="55321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1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final_price observations are statistically unusual but internally valid, and were therefore retained.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8961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347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Business Takeaways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Transaction Value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price and quantity are the strongest numerical factors associated with final transaction value.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Discounts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280720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price generally decreases as discount percentage increases.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Customer Demographics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358444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has virtually no linear relationship with transaction value.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33088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436168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rates remain relatively stable across categories, payment methods, shipping types and delivery durations.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10328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46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Outliers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513892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transactions are statistically unusual but valid, and should be retained.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137160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15361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19659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8288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transaction-value analysis on product price and quantity.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267919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542032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discount strategies together with transaction value and product mix.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339242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255264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analysis rather than relying on age, shipping type or payment method alone to explain returns.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41056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968496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valid high-value transactions when analyzing revenue distributions.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4828032"/>
            <a:ext cx="48463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93776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"EDA provides a strong foundation for deeper statistical modelling and predictive analysis."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Advanced EDA — Retail Transaction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1206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50468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88873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51206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550468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588873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550468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1408176" y="588873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92224" y="51206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792224" y="550468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792224" y="588873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176272" y="51206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2176272" y="550468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2176272" y="588873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0" y="-1280160"/>
            <a:ext cx="2926080" cy="29260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84648" y="4206240"/>
            <a:ext cx="182880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Bhavdeep Kaur  |  NextHikes IT Solutions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2026-09-12T15:47:58Z</dcterms:created>
  <dcterms:modified xsi:type="dcterms:W3CDTF">2026-09-12T15:47:58Z</dcterms:modified>
</cp:coreProperties>
</file>